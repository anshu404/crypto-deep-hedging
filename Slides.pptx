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a56ef28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7a56ef283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7a56ef283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a56ef28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7a56ef28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7a56ef28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237750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​​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0"/>
            <a:ext cx="2286000" cy="237744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8" name="Google Shape;18;p3"/>
          <p:cNvSpPr/>
          <p:nvPr/>
        </p:nvSpPr>
        <p:spPr>
          <a:xfrm>
            <a:off x="6949440" y="1371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01 / 10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01168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Empirical Deep Hedging : </a:t>
            </a:r>
            <a:r>
              <a:rPr b="1" lang="en-US" sz="3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SOLO PLAYER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909775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E7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D6E7"/>
                </a:solidFill>
                <a:latin typeface="Calibri"/>
                <a:ea typeface="Calibri"/>
                <a:cs typeface="Calibri"/>
                <a:sym typeface="Calibri"/>
              </a:rPr>
              <a:t>Reinforcement Learning in Options Markets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E7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FFD6E7"/>
                </a:solidFill>
                <a:latin typeface="Calibri"/>
                <a:ea typeface="Calibri"/>
                <a:cs typeface="Calibri"/>
                <a:sym typeface="Calibri"/>
              </a:rPr>
              <a:t>TD3 Deep RL  ·  Black-Scholes Baseline  ·  NSE Nifty &amp; Bitcoin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0040" y="2606040"/>
            <a:ext cx="2651760" cy="2331720"/>
          </a:xfrm>
          <a:prstGeom prst="roundRect">
            <a:avLst>
              <a:gd fmla="val 4706" name="adj"/>
            </a:avLst>
          </a:prstGeom>
          <a:solidFill>
            <a:srgbClr val="EEE9FF"/>
          </a:solidFill>
          <a:ln cap="flat" cmpd="sng" w="12700">
            <a:solidFill>
              <a:srgbClr val="EEE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3" name="Google Shape;23;p3"/>
          <p:cNvSpPr/>
          <p:nvPr/>
        </p:nvSpPr>
        <p:spPr>
          <a:xfrm>
            <a:off x="457200" y="26974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0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017520"/>
            <a:ext cx="2377440" cy="2286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5" name="Google Shape;25;p3"/>
          <p:cNvSpPr/>
          <p:nvPr/>
        </p:nvSpPr>
        <p:spPr>
          <a:xfrm>
            <a:off x="457200" y="3090672"/>
            <a:ext cx="23774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Deploy a Model-Free TD3 Deep RL agent to dynamically hedge European Call Options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00400" y="2606040"/>
            <a:ext cx="2651760" cy="2331720"/>
          </a:xfrm>
          <a:prstGeom prst="roundRect">
            <a:avLst>
              <a:gd fmla="val 4706" name="adj"/>
            </a:avLst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7" name="Google Shape;27;p3"/>
          <p:cNvSpPr/>
          <p:nvPr/>
        </p:nvSpPr>
        <p:spPr>
          <a:xfrm>
            <a:off x="3337560" y="26974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0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MARKETS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37560" y="3017520"/>
            <a:ext cx="2377440" cy="22860"/>
          </a:xfrm>
          <a:prstGeom prst="rect">
            <a:avLst/>
          </a:prstGeom>
          <a:solidFill>
            <a:srgbClr val="F48C06"/>
          </a:solidFill>
          <a:ln cap="flat" cmpd="sng" w="1270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" name="Google Shape;29;p3"/>
          <p:cNvSpPr/>
          <p:nvPr/>
        </p:nvSpPr>
        <p:spPr>
          <a:xfrm>
            <a:off x="3337560" y="3090672"/>
            <a:ext cx="23774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Highly volatile Crypto (Bitcoin) and mature Indian Equities (NSE Nifty)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080760" y="2606040"/>
            <a:ext cx="2651760" cy="2331720"/>
          </a:xfrm>
          <a:prstGeom prst="roundRect">
            <a:avLst>
              <a:gd fmla="val 4706" name="adj"/>
            </a:avLst>
          </a:prstGeom>
          <a:solidFill>
            <a:srgbClr val="D3F9D8"/>
          </a:solidFill>
          <a:ln cap="flat" cmpd="sng" w="12700">
            <a:solidFill>
              <a:srgbClr val="D3F9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" name="Google Shape;31;p3"/>
          <p:cNvSpPr/>
          <p:nvPr/>
        </p:nvSpPr>
        <p:spPr>
          <a:xfrm>
            <a:off x="6217920" y="26974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0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7F5B"/>
                </a:solidFill>
                <a:latin typeface="Trebuchet MS"/>
                <a:ea typeface="Trebuchet MS"/>
                <a:cs typeface="Trebuchet MS"/>
                <a:sym typeface="Trebuchet MS"/>
              </a:rPr>
              <a:t>ACHIEVEMENT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217920" y="3017520"/>
            <a:ext cx="2377440" cy="22860"/>
          </a:xfrm>
          <a:prstGeom prst="rect">
            <a:avLst/>
          </a:prstGeom>
          <a:solidFill>
            <a:srgbClr val="087F5B"/>
          </a:solidFill>
          <a:ln cap="flat" cmpd="sng" w="1270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3" name="Google Shape;33;p3"/>
          <p:cNvSpPr/>
          <p:nvPr/>
        </p:nvSpPr>
        <p:spPr>
          <a:xfrm>
            <a:off x="6217920" y="3090672"/>
            <a:ext cx="23774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Triple Crown: Lower portfolio risk · Higher alpha · Reduced transaction costs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" name="Google Shape;40;p4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2/10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Core Problem Formulation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" name="Google Shape;43;p4"/>
          <p:cNvSpPr/>
          <p:nvPr/>
        </p:nvSpPr>
        <p:spPr>
          <a:xfrm>
            <a:off x="411480" y="89611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4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The Black-Scholes Flaw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1480" y="1216152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Assumes frictionless, continuous trading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Constant volatility ignores: stochastic jumps, volatility smiles &amp; fat-tail crashes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Discrete real-world rebalancing leaves portfolios exposed to jump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Transaction costs drain capital under continuous rebalancing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617720" y="89611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4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The Deep Hedging Approach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17720" y="1216152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Treats hedging as a sequential decision-making optimization problem under uncertainty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Balances the cost of rebalancing against the variance of remaining unhedged exposure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Learns market-adaptive strategies model-free, without assuming market distributions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11480" y="32918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 Function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11480" y="3611880"/>
            <a:ext cx="8321040" cy="822960"/>
          </a:xfrm>
          <a:prstGeom prst="rect">
            <a:avLst/>
          </a:prstGeom>
          <a:solidFill>
            <a:srgbClr val="EEE9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9" name="Google Shape;49;p4"/>
          <p:cNvSpPr/>
          <p:nvPr/>
        </p:nvSpPr>
        <p:spPr>
          <a:xfrm>
            <a:off x="411480" y="3611880"/>
            <a:ext cx="64008" cy="82296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0" name="Google Shape;50;p4"/>
          <p:cNvSpPr/>
          <p:nvPr/>
        </p:nvSpPr>
        <p:spPr>
          <a:xfrm>
            <a:off x="548640" y="3685032"/>
            <a:ext cx="811987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Reward(t)  =  PnL(t)  -  κ × f(Risk)  -  SmoothnessPenalty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50"/>
              <a:buFont typeface="Courier New"/>
              <a:buNone/>
            </a:pPr>
            <a:r>
              <a:rPr b="0" i="0" lang="en-US" sz="1350" u="none" cap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Maximize risk-adjusted utility  |  Minimize variance  |  Subject to transaction costs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343400" y="914400"/>
            <a:ext cx="27432" cy="2240280"/>
          </a:xfrm>
          <a:prstGeom prst="rect">
            <a:avLst/>
          </a:prstGeom>
          <a:solidFill>
            <a:srgbClr val="DDDDEE"/>
          </a:solidFill>
          <a:ln cap="flat" cmpd="sng" w="12700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" name="Google Shape;58;p5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 — V1 Architecture &amp; Reward Hacking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" name="Google Shape;61;p5"/>
          <p:cNvSpPr/>
          <p:nvPr/>
        </p:nvSpPr>
        <p:spPr>
          <a:xfrm>
            <a:off x="411480" y="822960"/>
            <a:ext cx="2377440" cy="256032"/>
          </a:xfrm>
          <a:prstGeom prst="roundRect">
            <a:avLst>
              <a:gd fmla="val 21429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" name="Google Shape;62;p5"/>
          <p:cNvSpPr/>
          <p:nvPr/>
        </p:nvSpPr>
        <p:spPr>
          <a:xfrm>
            <a:off x="411480" y="8229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 ·  CRYPTO (BITCOIN)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11480" y="11704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4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The Initial Insight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11480" y="1481328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Used a semi-variance penalty: punishes only downside risk (losses)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Bitcoin chosen as stress-test for extreme, unpredictable volatility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11480" y="2457420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Trebuchet MS"/>
              <a:buNone/>
            </a:pPr>
            <a:r>
              <a:rPr b="1" i="0" lang="en-US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V1 Reward Formula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11475" y="2713325"/>
            <a:ext cx="4114800" cy="578400"/>
          </a:xfrm>
          <a:prstGeom prst="rect">
            <a:avLst/>
          </a:prstGeom>
          <a:solidFill>
            <a:srgbClr val="EEE9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7" name="Google Shape;67;p5"/>
          <p:cNvSpPr/>
          <p:nvPr/>
        </p:nvSpPr>
        <p:spPr>
          <a:xfrm>
            <a:off x="512078" y="2697443"/>
            <a:ext cx="391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ourier New"/>
              <a:buNone/>
            </a:pPr>
            <a:r>
              <a:rPr b="1" i="0" lang="en-US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Reward(t) = PnL(t) - κ × |min(PnL(t), 0)|^E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3346612"/>
            <a:ext cx="4114800" cy="1600200"/>
          </a:xfrm>
          <a:prstGeom prst="rect">
            <a:avLst/>
          </a:prstGeom>
          <a:solidFill>
            <a:srgbClr val="E8EEFF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9" name="Google Shape;69;p5"/>
          <p:cNvSpPr/>
          <p:nvPr/>
        </p:nvSpPr>
        <p:spPr>
          <a:xfrm>
            <a:off x="502921" y="3492989"/>
            <a:ext cx="39318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PnL(t)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Raw P&amp;L at time step t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κ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Risk aversion multiplier (penalty scaling)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Reward exponent (typically 2.0 for quadratic)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min(PnL(t), 0)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Penalises only losses; profits left unpenalised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754880" y="1170432"/>
            <a:ext cx="3931920" cy="3611880"/>
          </a:xfrm>
          <a:prstGeom prst="roundRect">
            <a:avLst>
              <a:gd fmla="val 3038" name="adj"/>
            </a:avLst>
          </a:prstGeom>
          <a:solidFill>
            <a:srgbClr val="FFF0F3"/>
          </a:solidFill>
          <a:ln cap="flat" cmpd="sng" w="1905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5"/>
          <p:cNvSpPr/>
          <p:nvPr/>
        </p:nvSpPr>
        <p:spPr>
          <a:xfrm>
            <a:off x="4937760" y="129844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4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⚠  The Flaw: Reward Hacking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37760" y="1719072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 exploited the asymmetric formula — avoiding discrete hedging losses was mathematically impossible due to trading frictions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Instead of hedging, it became a directional speculator: took massive unhedged risk to generate extreme profits that offset downside penalties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agent found the reward formula's loophole before learning any true hedge behaviour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9" name="Google Shape;79;p6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 — The Self-Attention Experiment (Transformers)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11480" y="793233"/>
            <a:ext cx="8321100" cy="2280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" name="Google Shape;82;p6"/>
          <p:cNvSpPr/>
          <p:nvPr/>
        </p:nvSpPr>
        <p:spPr>
          <a:xfrm>
            <a:off x="411480" y="822960"/>
            <a:ext cx="2468880" cy="256032"/>
          </a:xfrm>
          <a:prstGeom prst="roundRect">
            <a:avLst>
              <a:gd fmla="val 21429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3" name="Google Shape;83;p6"/>
          <p:cNvSpPr/>
          <p:nvPr/>
        </p:nvSpPr>
        <p:spPr>
          <a:xfrm>
            <a:off x="411480" y="8229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·  SEQUENTIAL MEMORY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11480" y="1170432"/>
            <a:ext cx="8321040" cy="658368"/>
          </a:xfrm>
          <a:prstGeom prst="roundRect">
            <a:avLst>
              <a:gd fmla="val 13889" name="adj"/>
            </a:avLst>
          </a:prstGeom>
          <a:solidFill>
            <a:srgbClr val="EEE9FF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5" name="Google Shape;85;p6"/>
          <p:cNvSpPr/>
          <p:nvPr/>
        </p:nvSpPr>
        <p:spPr>
          <a:xfrm>
            <a:off x="594360" y="1234440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3A0CA3"/>
                </a:solidFill>
                <a:latin typeface="Calibri"/>
                <a:ea typeface="Calibri"/>
                <a:cs typeface="Calibri"/>
                <a:sym typeface="Calibri"/>
              </a:rPr>
              <a:t>Hypothesis:  Market regimes are sequential. Replace standard MLPs with a Transformer-based neural network to capture long-term temporal dependencies in volatility.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11480" y="1965960"/>
            <a:ext cx="2651760" cy="2606040"/>
          </a:xfrm>
          <a:prstGeom prst="roundRect">
            <a:avLst>
              <a:gd fmla="val 4211" name="adj"/>
            </a:avLst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7" name="Google Shape;87;p6"/>
          <p:cNvSpPr/>
          <p:nvPr/>
        </p:nvSpPr>
        <p:spPr>
          <a:xfrm>
            <a:off x="548640" y="2084832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2542032"/>
            <a:ext cx="2377440" cy="22860"/>
          </a:xfrm>
          <a:prstGeom prst="rect">
            <a:avLst/>
          </a:prstGeom>
          <a:solidFill>
            <a:srgbClr val="F48C06"/>
          </a:solidFill>
          <a:ln cap="flat" cmpd="sng" w="1270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" name="Google Shape;89;p6"/>
          <p:cNvSpPr/>
          <p:nvPr/>
        </p:nvSpPr>
        <p:spPr>
          <a:xfrm>
            <a:off x="548640" y="257860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NLP-scale batch sizes (1,000–10,000) caused severe gradient averaging, washing out sparse reward signals needed for hedging.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246120" y="1965960"/>
            <a:ext cx="2651760" cy="2606040"/>
          </a:xfrm>
          <a:prstGeom prst="roundRect">
            <a:avLst>
              <a:gd fmla="val 4211" name="adj"/>
            </a:avLst>
          </a:prstGeom>
          <a:solidFill>
            <a:srgbClr val="D3F9D8"/>
          </a:solidFill>
          <a:ln cap="flat" cmpd="sng" w="12700">
            <a:solidFill>
              <a:srgbClr val="D3F9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1" name="Google Shape;91;p6"/>
          <p:cNvSpPr/>
          <p:nvPr/>
        </p:nvSpPr>
        <p:spPr>
          <a:xfrm>
            <a:off x="3383280" y="2084832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87F5B"/>
                </a:solidFill>
                <a:latin typeface="Trebuchet MS"/>
                <a:ea typeface="Trebuchet MS"/>
                <a:cs typeface="Trebuchet MS"/>
                <a:sym typeface="Trebuchet MS"/>
              </a:rPr>
              <a:t>The Fix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383280" y="2542032"/>
            <a:ext cx="2377440" cy="22860"/>
          </a:xfrm>
          <a:prstGeom prst="rect">
            <a:avLst/>
          </a:prstGeom>
          <a:solidFill>
            <a:srgbClr val="087F5B"/>
          </a:solidFill>
          <a:ln cap="flat" cmpd="sng" w="1270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3" name="Google Shape;93;p6"/>
          <p:cNvSpPr/>
          <p:nvPr/>
        </p:nvSpPr>
        <p:spPr>
          <a:xfrm>
            <a:off x="3383280" y="257860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Aggressively reduced batch size to 128, restoring the optimal signal-to-noise ratio for the TD3 actor-critic updates.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080760" y="1965960"/>
            <a:ext cx="2651760" cy="2606040"/>
          </a:xfrm>
          <a:prstGeom prst="roundRect">
            <a:avLst>
              <a:gd fmla="val 4211" name="adj"/>
            </a:avLst>
          </a:prstGeom>
          <a:solidFill>
            <a:srgbClr val="FFD6E7"/>
          </a:solidFill>
          <a:ln cap="flat" cmpd="sng" w="12700">
            <a:solidFill>
              <a:srgbClr val="FFD6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5" name="Google Shape;95;p6"/>
          <p:cNvSpPr/>
          <p:nvPr/>
        </p:nvSpPr>
        <p:spPr>
          <a:xfrm>
            <a:off x="6217920" y="2084832"/>
            <a:ext cx="2377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217920" y="2542032"/>
            <a:ext cx="2377440" cy="2286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7" name="Google Shape;97;p6"/>
          <p:cNvSpPr/>
          <p:nvPr/>
        </p:nvSpPr>
        <p:spPr>
          <a:xfrm>
            <a:off x="6217920" y="2578608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Massive Alpha generation: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Mean Profit  $5,116.84 (AI)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vs  $5,085.84 (BS)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Significant out-performance on profitability.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7" title="Screenshot 2026-05-05 at 4.47.37 PM.png"/>
          <p:cNvPicPr preferRelativeResize="0"/>
          <p:nvPr/>
        </p:nvPicPr>
        <p:blipFill rotWithShape="1">
          <a:blip r:embed="rId3">
            <a:alphaModFix/>
          </a:blip>
          <a:srcRect b="-4114" l="0" r="0" t="-1650"/>
          <a:stretch/>
        </p:blipFill>
        <p:spPr>
          <a:xfrm>
            <a:off x="4846025" y="1134875"/>
            <a:ext cx="4297976" cy="41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title="Screenshot 2026-05-05 at 4.47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01963"/>
            <a:ext cx="4645625" cy="39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465425" y="162350"/>
            <a:ext cx="81180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lang="en-US" sz="27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 — The Self-Attention Experiment (Transformers)</a:t>
            </a:r>
            <a:endParaRPr b="1" sz="27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2" name="Google Shape;112;p8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5/10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Transformer Evaluation &amp; Rejection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5" name="Google Shape;115;p8"/>
          <p:cNvSpPr/>
          <p:nvPr/>
        </p:nvSpPr>
        <p:spPr>
          <a:xfrm>
            <a:off x="411480" y="822960"/>
            <a:ext cx="2286000" cy="256032"/>
          </a:xfrm>
          <a:prstGeom prst="roundRect">
            <a:avLst>
              <a:gd fmla="val 21429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6" name="Google Shape;116;p8"/>
          <p:cNvSpPr/>
          <p:nvPr/>
        </p:nvSpPr>
        <p:spPr>
          <a:xfrm>
            <a:off x="411480" y="8229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·  VERDICT: REJECTED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11480" y="1170432"/>
            <a:ext cx="4572000" cy="3017520"/>
          </a:xfrm>
          <a:prstGeom prst="roundRect">
            <a:avLst>
              <a:gd fmla="val 3636" name="adj"/>
            </a:avLst>
          </a:prstGeom>
          <a:solidFill>
            <a:srgbClr val="F3F0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8" name="Google Shape;118;p8"/>
          <p:cNvSpPr/>
          <p:nvPr/>
        </p:nvSpPr>
        <p:spPr>
          <a:xfrm>
            <a:off x="502920" y="1261872"/>
            <a:ext cx="43891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3A0CA3"/>
                </a:solidFill>
                <a:latin typeface="Calibri"/>
                <a:ea typeface="Calibri"/>
                <a:cs typeface="Calibri"/>
                <a:sym typeface="Calibri"/>
              </a:rPr>
              <a:t>[Insert Graph: PnL Distribution KDE Plot — Transformer vs Black-Scholes]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02920" y="4041648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A0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Graph: KDE – Transformer AI vs BS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212080" y="11704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4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Graph Insight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212080" y="1481328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Blue curve (AI) vs Orange curve (BS): the KDE reveals the AI distribution has fatter tails and a wider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While highly profitable, the self-attention mechanism allowed the agent to function as a smart directional trader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234930" y="3579867"/>
            <a:ext cx="3520500" cy="1371600"/>
          </a:xfrm>
          <a:prstGeom prst="roundRect">
            <a:avLst>
              <a:gd fmla="val 8000" name="adj"/>
            </a:avLst>
          </a:prstGeom>
          <a:solidFill>
            <a:srgbClr val="FFF0F3"/>
          </a:solidFill>
          <a:ln cap="flat" cmpd="sng" w="254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3" name="Google Shape;123;p8"/>
          <p:cNvSpPr/>
          <p:nvPr/>
        </p:nvSpPr>
        <p:spPr>
          <a:xfrm>
            <a:off x="5234935" y="317184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2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372110" y="3579885"/>
            <a:ext cx="3200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Architecture REJECTED. The Transformer failed the primary objective of a hedger: variance minimization.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Replaced with a mathematically constrained TD3 framework.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170425"/>
            <a:ext cx="4629274" cy="378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F48C06"/>
          </a:solidFill>
          <a:ln cap="flat" cmpd="sng" w="1270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" name="Google Shape;132;p9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Phase 3 — Indian Equities (NSE) &amp; Gradient Explosion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11480" y="793233"/>
            <a:ext cx="8321100" cy="22800"/>
          </a:xfrm>
          <a:prstGeom prst="rect">
            <a:avLst/>
          </a:prstGeom>
          <a:solidFill>
            <a:srgbClr val="F48C06"/>
          </a:solidFill>
          <a:ln cap="flat" cmpd="sng" w="1270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" name="Google Shape;135;p9"/>
          <p:cNvSpPr/>
          <p:nvPr/>
        </p:nvSpPr>
        <p:spPr>
          <a:xfrm>
            <a:off x="411480" y="822960"/>
            <a:ext cx="2468880" cy="256032"/>
          </a:xfrm>
          <a:prstGeom prst="roundRect">
            <a:avLst>
              <a:gd fmla="val 21429" name="adj"/>
            </a:avLst>
          </a:prstGeom>
          <a:solidFill>
            <a:srgbClr val="F48C06"/>
          </a:solidFill>
          <a:ln cap="flat" cmpd="sng" w="1270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9"/>
          <p:cNvSpPr/>
          <p:nvPr/>
        </p:nvSpPr>
        <p:spPr>
          <a:xfrm>
            <a:off x="411480" y="8229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·  INSTITUTIONAL FIX #1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11475" y="1170423"/>
            <a:ext cx="8458200" cy="887400"/>
          </a:xfrm>
          <a:prstGeom prst="roundRect">
            <a:avLst>
              <a:gd fmla="val 12195" name="adj"/>
            </a:avLst>
          </a:prstGeom>
          <a:solidFill>
            <a:srgbClr val="FFF3CD"/>
          </a:solidFill>
          <a:ln cap="flat" cmpd="sng" w="1905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p9"/>
          <p:cNvSpPr/>
          <p:nvPr/>
        </p:nvSpPr>
        <p:spPr>
          <a:xfrm>
            <a:off x="594360" y="12344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200"/>
              <a:buFont typeface="Trebuchet MS"/>
              <a:buNone/>
            </a:pPr>
            <a:r>
              <a:rPr b="1" i="0" lang="en-US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The Crisis: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737360" y="1234440"/>
            <a:ext cx="6858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Moving to NSE Nifty, raw PnL scaled from ~$40 (Crypto) to $5,000+ (NSE). Applying exponential penalties (κ × PnL²) to these values resulted in negative rewards in the millions  →  Neural network gradients exploded, causing 'learned helplessness' where the agent took naked directional positions.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11480" y="202996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Institutional Fix — PnL Normalization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11480" y="2340864"/>
            <a:ext cx="4114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Normalize raw PnL into bounded decimals to stabilize TD3 actor-critic updates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Prevents exponential penalties from generating catastrophically large gradients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11475" y="3392475"/>
            <a:ext cx="4114800" cy="502800"/>
          </a:xfrm>
          <a:prstGeom prst="rect">
            <a:avLst/>
          </a:prstGeom>
          <a:solidFill>
            <a:srgbClr val="EEE9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3" name="Google Shape;143;p9"/>
          <p:cNvSpPr/>
          <p:nvPr/>
        </p:nvSpPr>
        <p:spPr>
          <a:xfrm>
            <a:off x="411475" y="3392425"/>
            <a:ext cx="63900" cy="50280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" name="Google Shape;144;p9"/>
          <p:cNvSpPr/>
          <p:nvPr/>
        </p:nvSpPr>
        <p:spPr>
          <a:xfrm>
            <a:off x="557860" y="3428952"/>
            <a:ext cx="391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Courier New"/>
              <a:buNone/>
            </a:pPr>
            <a:r>
              <a:rPr b="1" i="0" lang="en-US" sz="15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Fractional_PnL(t)  =  Raw_PnL(t)  /  S(0)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11480" y="4032504"/>
            <a:ext cx="4114800" cy="1024200"/>
          </a:xfrm>
          <a:prstGeom prst="rect">
            <a:avLst/>
          </a:prstGeom>
          <a:solidFill>
            <a:srgbClr val="E8EEFF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" name="Google Shape;146;p9"/>
          <p:cNvSpPr/>
          <p:nvPr/>
        </p:nvSpPr>
        <p:spPr>
          <a:xfrm>
            <a:off x="521208" y="4105656"/>
            <a:ext cx="3931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Fractional_PnL(t)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Scaled PnL used internally by neural network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Raw_PnL(t)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Absolute monetary value of profit/loss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S(0)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Initial spot price of underlying at episode start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800600" y="2304293"/>
            <a:ext cx="3931800" cy="2788800"/>
          </a:xfrm>
          <a:prstGeom prst="roundRect">
            <a:avLst>
              <a:gd fmla="val 3934" name="adj"/>
            </a:avLst>
          </a:prstGeom>
          <a:solidFill>
            <a:srgbClr val="EEE9FF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" name="Google Shape;148;p9"/>
          <p:cNvSpPr/>
          <p:nvPr/>
        </p:nvSpPr>
        <p:spPr>
          <a:xfrm>
            <a:off x="4983480" y="242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983480" y="2724917"/>
            <a:ext cx="35661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Fractional PnL is always a small decimal (e.g. 0.003), keeping neural weights bounded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Exponential penalty κ × (0.003)² is numerically safe — no gradient explosion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Enables stable convergence across 20,000 training episodes on NSE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Benchmark: NSE mean reward ~$5,100 achievable after normalization fix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6" name="Google Shape;156;p10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Crash-Proof Stochastic Simulation — Log-Euler Maruyama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9" name="Google Shape;159;p10"/>
          <p:cNvSpPr/>
          <p:nvPr/>
        </p:nvSpPr>
        <p:spPr>
          <a:xfrm>
            <a:off x="411480" y="822960"/>
            <a:ext cx="2468880" cy="256032"/>
          </a:xfrm>
          <a:prstGeom prst="roundRect">
            <a:avLst>
              <a:gd fmla="val 21429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0" name="Google Shape;160;p10"/>
          <p:cNvSpPr/>
          <p:nvPr/>
        </p:nvSpPr>
        <p:spPr>
          <a:xfrm>
            <a:off x="411480" y="8229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·  INSTITUTIONAL FIX #2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11480" y="1170432"/>
            <a:ext cx="8321040" cy="658368"/>
          </a:xfrm>
          <a:prstGeom prst="roundRect">
            <a:avLst>
              <a:gd fmla="val 13889" name="adj"/>
            </a:avLst>
          </a:prstGeom>
          <a:solidFill>
            <a:srgbClr val="EEE9FF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10"/>
          <p:cNvSpPr/>
          <p:nvPr/>
        </p:nvSpPr>
        <p:spPr>
          <a:xfrm>
            <a:off x="594360" y="1234440"/>
            <a:ext cx="8001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Challenge:  Standard Euler discretization of the Heston variance process can push variance into negative territory  →  simulation crash, invalid option pricing, no training signal.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11480" y="19202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Heston Variance — Log-Euler Maruyama with Full Truncation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11480" y="2240280"/>
            <a:ext cx="8321040" cy="896112"/>
          </a:xfrm>
          <a:prstGeom prst="rect">
            <a:avLst/>
          </a:prstGeom>
          <a:solidFill>
            <a:srgbClr val="EEE9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5" name="Google Shape;165;p10"/>
          <p:cNvSpPr/>
          <p:nvPr/>
        </p:nvSpPr>
        <p:spPr>
          <a:xfrm>
            <a:off x="411480" y="2240280"/>
            <a:ext cx="64008" cy="896112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6" name="Google Shape;166;p10"/>
          <p:cNvSpPr/>
          <p:nvPr/>
        </p:nvSpPr>
        <p:spPr>
          <a:xfrm>
            <a:off x="548640" y="2313432"/>
            <a:ext cx="811987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50"/>
              <a:buFont typeface="Courier New"/>
              <a:buNone/>
            </a:pPr>
            <a:r>
              <a:rPr b="1" i="0" lang="en-US" sz="145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v(t) = max( v(t-1)  +  κ_h(θ_h - v(t-1))dt  +  σ_h √(v(t-1) dt) dW,  0.0001 )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Full Truncation:  max( ... , 0.0001 )  guarantees strictly positive variance at every time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11480" y="320040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Trebuchet MS"/>
              <a:buNone/>
            </a:pPr>
            <a:r>
              <a:rPr b="1" i="0" lang="en-US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Notation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11480" y="3493008"/>
            <a:ext cx="8321040" cy="804672"/>
          </a:xfrm>
          <a:prstGeom prst="rect">
            <a:avLst/>
          </a:prstGeom>
          <a:solidFill>
            <a:srgbClr val="E8EEFF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9" name="Google Shape;169;p10"/>
          <p:cNvSpPr/>
          <p:nvPr/>
        </p:nvSpPr>
        <p:spPr>
          <a:xfrm>
            <a:off x="521208" y="356616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v(t)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Instantaneous variance at time step t     </a:t>
            </a: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κ_h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Rate of mean reversion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θ_h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Long-term variance     </a:t>
            </a: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σ_h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Volatility of volatility     </a:t>
            </a: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dW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Standard Wiener process increment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11480" y="4352544"/>
            <a:ext cx="8321040" cy="548640"/>
          </a:xfrm>
          <a:prstGeom prst="roundRect">
            <a:avLst>
              <a:gd fmla="val 13333" name="adj"/>
            </a:avLst>
          </a:prstGeom>
          <a:solidFill>
            <a:srgbClr val="D3F9D8"/>
          </a:solidFill>
          <a:ln cap="flat" cmpd="sng" w="1270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1" name="Google Shape;171;p10"/>
          <p:cNvSpPr/>
          <p:nvPr/>
        </p:nvSpPr>
        <p:spPr>
          <a:xfrm>
            <a:off x="594360" y="4425696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✓  Result:  Crash-proof environment enabling seamless training across 20,000 episodes spanning extreme Nifty VIX market regimes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8" name="Google Shape;178;p11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8/10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Welford's Online Variance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1" name="Google Shape;181;p11"/>
          <p:cNvSpPr/>
          <p:nvPr/>
        </p:nvSpPr>
        <p:spPr>
          <a:xfrm>
            <a:off x="411480" y="822960"/>
            <a:ext cx="2103120" cy="256032"/>
          </a:xfrm>
          <a:prstGeom prst="roundRect">
            <a:avLst>
              <a:gd fmla="val 21429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2" name="Google Shape;182;p11"/>
          <p:cNvSpPr/>
          <p:nvPr/>
        </p:nvSpPr>
        <p:spPr>
          <a:xfrm>
            <a:off x="411480" y="8229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·  BEHAVIOURAL 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11480" y="1170432"/>
            <a:ext cx="8321040" cy="658368"/>
          </a:xfrm>
          <a:prstGeom prst="roundRect">
            <a:avLst>
              <a:gd fmla="val 13889" name="adj"/>
            </a:avLst>
          </a:prstGeom>
          <a:solidFill>
            <a:srgbClr val="FFD6E7"/>
          </a:solidFill>
          <a:ln cap="flat" cmpd="sng" w="15225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4" name="Google Shape;184;p11"/>
          <p:cNvSpPr/>
          <p:nvPr/>
        </p:nvSpPr>
        <p:spPr>
          <a:xfrm>
            <a:off x="594360" y="1234440"/>
            <a:ext cx="8001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Concept:  Replace asymmetric semi-variance greed rule with strict Full Welford Variance tracking. The agent is mathematically punished for ANY deviation from mean PnL — both extreme profits AND extreme losses.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11480" y="19202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1300"/>
              <a:buFont typeface="Trebuchet MS"/>
              <a:buNone/>
            </a:pPr>
            <a:r>
              <a:rPr b="1" i="0" lang="en-US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Welford's Update Formulas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11480" y="2240280"/>
            <a:ext cx="5120640" cy="1444752"/>
          </a:xfrm>
          <a:prstGeom prst="rect">
            <a:avLst/>
          </a:prstGeom>
          <a:solidFill>
            <a:srgbClr val="EEE9FF"/>
          </a:solidFill>
          <a:ln cap="flat" cmpd="sng" w="1905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7" name="Google Shape;187;p11"/>
          <p:cNvSpPr/>
          <p:nvPr/>
        </p:nvSpPr>
        <p:spPr>
          <a:xfrm>
            <a:off x="411480" y="2240280"/>
            <a:ext cx="64008" cy="1444752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8" name="Google Shape;188;p11"/>
          <p:cNvSpPr/>
          <p:nvPr/>
        </p:nvSpPr>
        <p:spPr>
          <a:xfrm>
            <a:off x="548640" y="2313432"/>
            <a:ext cx="491947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Δ_mean  =  PnL(t)  -  x̄(t-1)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x̄(t)   =  x̄(t-1)  +  Δ_mean / 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Δ₂     =  PnL(t)  -  x̄(t)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A0CA3"/>
                </a:solidFill>
                <a:latin typeface="Courier New"/>
                <a:ea typeface="Courier New"/>
                <a:cs typeface="Courier New"/>
                <a:sym typeface="Courier New"/>
              </a:rPr>
              <a:t>Penalty(t)  =  κ  ×  (Δ_mean × Δ₂)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11480" y="3730752"/>
            <a:ext cx="5120640" cy="1371600"/>
          </a:xfrm>
          <a:prstGeom prst="rect">
            <a:avLst/>
          </a:prstGeom>
          <a:solidFill>
            <a:srgbClr val="E8EEFF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0" name="Google Shape;190;p11"/>
          <p:cNvSpPr/>
          <p:nvPr/>
        </p:nvSpPr>
        <p:spPr>
          <a:xfrm>
            <a:off x="521208" y="3803904"/>
            <a:ext cx="493776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PnL(t)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Normalised P&amp;L at current step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x̄(t-1)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Running mean of PnL to previous step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x̄(t)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Updated running mean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Current step count within episode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Δ₂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Deviation from newly updated mean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κ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Risk aversion multiplier (set to 225)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715000" y="2240280"/>
            <a:ext cx="3017520" cy="2862072"/>
          </a:xfrm>
          <a:prstGeom prst="roundRect">
            <a:avLst>
              <a:gd fmla="val 3834" name="adj"/>
            </a:avLst>
          </a:prstGeom>
          <a:solidFill>
            <a:srgbClr val="EEE9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2" name="Google Shape;192;p11"/>
          <p:cNvSpPr/>
          <p:nvPr/>
        </p:nvSpPr>
        <p:spPr>
          <a:xfrm>
            <a:off x="5897880" y="235915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300"/>
              <a:buFont typeface="Trebuchet MS"/>
              <a:buNone/>
            </a:pPr>
            <a:r>
              <a:rPr b="1" i="0" lang="en-US" u="none" cap="none" strike="noStrike">
                <a:solidFill>
                  <a:srgbClr val="3A0CA3"/>
                </a:solidFill>
                <a:latin typeface="Trebuchet MS"/>
                <a:ea typeface="Trebuchet MS"/>
                <a:cs typeface="Trebuchet MS"/>
                <a:sym typeface="Trebuchet MS"/>
              </a:rPr>
              <a:t>The Impact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897880" y="269748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 punished for any variance, not just losses — eliminates directional speculation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Forces true 'zero-variance' deep hedging behaviour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Optimal κ = 225: variance penalty outweighs any possible directional profit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agent evolves from naive speculator → Friction-Aware Deep Hedger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0" name="Google Shape;200;p12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9/10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Kappa Ablation Study — Tuning Risk Aversion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" name="Google Shape;203;p12"/>
          <p:cNvSpPr/>
          <p:nvPr/>
        </p:nvSpPr>
        <p:spPr>
          <a:xfrm>
            <a:off x="411480" y="822960"/>
            <a:ext cx="2743200" cy="256032"/>
          </a:xfrm>
          <a:prstGeom prst="roundRect">
            <a:avLst>
              <a:gd fmla="val 21429" name="adj"/>
            </a:avLst>
          </a:prstGeom>
          <a:solidFill>
            <a:srgbClr val="3A0CA3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4" name="Google Shape;204;p12"/>
          <p:cNvSpPr/>
          <p:nvPr/>
        </p:nvSpPr>
        <p:spPr>
          <a:xfrm>
            <a:off x="411480" y="822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TEST  ·  HYPERPARAMETER 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11480" y="1170432"/>
            <a:ext cx="8321040" cy="548640"/>
          </a:xfrm>
          <a:prstGeom prst="roundRect">
            <a:avLst>
              <a:gd fmla="val 13333" name="adj"/>
            </a:avLst>
          </a:prstGeom>
          <a:solidFill>
            <a:srgbClr val="EEE9FF"/>
          </a:solidFill>
          <a:ln cap="flat" cmpd="sng" w="1270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6" name="Google Shape;206;p12"/>
          <p:cNvSpPr/>
          <p:nvPr/>
        </p:nvSpPr>
        <p:spPr>
          <a:xfrm>
            <a:off x="594360" y="1243584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3A0CA3"/>
                </a:solidFill>
                <a:latin typeface="Calibri"/>
                <a:ea typeface="Calibri"/>
                <a:cs typeface="Calibri"/>
                <a:sym typeface="Calibri"/>
              </a:rPr>
              <a:t>Finding the Sweet Spot: How risk aversion (κ) transitions the agent from speculator to pure variance-minimising hedger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11475" y="1847103"/>
            <a:ext cx="4050900" cy="3103500"/>
          </a:xfrm>
          <a:prstGeom prst="roundRect">
            <a:avLst>
              <a:gd fmla="val 4444" name="adj"/>
            </a:avLst>
          </a:prstGeom>
          <a:solidFill>
            <a:srgbClr val="FFF3CD"/>
          </a:solidFill>
          <a:ln cap="flat" cmpd="sng" w="19050">
            <a:solidFill>
              <a:srgbClr val="F48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8" name="Google Shape;208;p12"/>
          <p:cNvSpPr/>
          <p:nvPr/>
        </p:nvSpPr>
        <p:spPr>
          <a:xfrm>
            <a:off x="502920" y="1938528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150"/>
              <a:buFont typeface="Calibri"/>
              <a:buNone/>
            </a:pPr>
            <a:r>
              <a:rPr b="0" i="1" lang="en-US" sz="1450" u="none" cap="none" strike="noStrike">
                <a:solidFill>
                  <a:srgbClr val="F48C06"/>
                </a:solidFill>
                <a:latin typeface="Calibri"/>
                <a:ea typeface="Calibri"/>
                <a:cs typeface="Calibri"/>
                <a:sym typeface="Calibri"/>
              </a:rPr>
              <a:t>[Insert Graph: κ = 125 — KDE Distribution]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02920" y="3657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10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κ = 125  ·  SUBOPTIMAL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02920" y="3931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Agent slightly greedy — accepts variance penalty to earn higher directional profits. Std Dev: 2794 vs BS: 2326  →  Fatter tails than Black-Scholes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709150" y="1847103"/>
            <a:ext cx="4023300" cy="3103500"/>
          </a:xfrm>
          <a:prstGeom prst="roundRect">
            <a:avLst>
              <a:gd fmla="val 4444" name="adj"/>
            </a:avLst>
          </a:prstGeom>
          <a:solidFill>
            <a:srgbClr val="D3F9D8"/>
          </a:solidFill>
          <a:ln cap="flat" cmpd="sng" w="1905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2" name="Google Shape;212;p12"/>
          <p:cNvSpPr/>
          <p:nvPr/>
        </p:nvSpPr>
        <p:spPr>
          <a:xfrm>
            <a:off x="4800600" y="1938528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150"/>
              <a:buFont typeface="Calibri"/>
              <a:buNone/>
            </a:pPr>
            <a:r>
              <a:rPr b="0" i="1" lang="en-US" sz="145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[Insert Graph: κ = 225 — KDE Distribution]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800600" y="3657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0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87F5B"/>
                </a:solidFill>
                <a:latin typeface="Trebuchet MS"/>
                <a:ea typeface="Trebuchet MS"/>
                <a:cs typeface="Trebuchet MS"/>
                <a:sym typeface="Trebuchet MS"/>
              </a:rPr>
              <a:t>κ = 225  ·  OPTIMAL  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800600" y="3931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Variance pain outweighs any directional profit. Blue curve becomes taller &amp; narrower than Orange (BS)  →  Strict compliance, pure hedger.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315968" y="2999232"/>
            <a:ext cx="146304" cy="146304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6" name="Google Shape;216;p12"/>
          <p:cNvSpPr/>
          <p:nvPr/>
        </p:nvSpPr>
        <p:spPr>
          <a:xfrm>
            <a:off x="4206240" y="28346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2200"/>
              <a:buFont typeface="Calibri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7514" l="0" r="48501" t="4194"/>
          <a:stretch/>
        </p:blipFill>
        <p:spPr>
          <a:xfrm>
            <a:off x="502863" y="1810511"/>
            <a:ext cx="3840599" cy="315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4">
            <a:alphaModFix/>
          </a:blip>
          <a:srcRect b="6828" l="0" r="48557" t="5965"/>
          <a:stretch/>
        </p:blipFill>
        <p:spPr>
          <a:xfrm>
            <a:off x="4709150" y="1861813"/>
            <a:ext cx="3840599" cy="307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365760" y="201168"/>
            <a:ext cx="54900" cy="502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512064" y="16459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Kappa Ablation Study — Finding the Optimal Risk Aversion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512064" y="749808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Stress-Testing the Variance Penalty Coefficient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115576"/>
            <a:ext cx="5029200" cy="36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/>
          <p:nvPr/>
        </p:nvSpPr>
        <p:spPr>
          <a:xfrm>
            <a:off x="5669280" y="1115568"/>
            <a:ext cx="3108900" cy="14172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FF17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669280" y="1115568"/>
            <a:ext cx="3108900" cy="45600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FF1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5806440" y="1207008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nsolas"/>
                <a:ea typeface="Consolas"/>
                <a:cs typeface="Consolas"/>
                <a:sym typeface="Consolas"/>
              </a:rPr>
              <a:t>κ = 100 / 125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806440" y="1463040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Still Greedy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806440" y="1700784"/>
            <a:ext cx="283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E"/>
                </a:solidFill>
                <a:latin typeface="Calibri"/>
                <a:ea typeface="Calibri"/>
                <a:cs typeface="Calibri"/>
                <a:sym typeface="Calibri"/>
              </a:rPr>
              <a:t>Agent accepts variance penalty to earn directional profits. StdDev exceeds Black-Scholes baseline.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5669280" y="2715768"/>
            <a:ext cx="3108900" cy="14172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5669280" y="2715768"/>
            <a:ext cx="3108900" cy="45600"/>
          </a:xfrm>
          <a:prstGeom prst="rect">
            <a:avLst/>
          </a:prstGeom>
          <a:solidFill>
            <a:srgbClr val="00C853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5806440" y="2807208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κ = 225  ★ OPTIMAL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806440" y="3063240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Hedger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5806440" y="3300984"/>
            <a:ext cx="283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E"/>
                </a:solidFill>
                <a:latin typeface="Calibri"/>
                <a:ea typeface="Calibri"/>
                <a:cs typeface="Calibri"/>
                <a:sym typeface="Calibri"/>
              </a:rPr>
              <a:t>Penalty boundary exceeds any possible directional gain. Agent mathematically forced into variance-minimizing behavior.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669280" y="4434840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★  κ = 225 is the inflection point where the pain of variance penalty mathematically outweighs all possible directional alpha.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8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8321040" y="164592"/>
            <a:ext cx="548640" cy="274320"/>
          </a:xfrm>
          <a:prstGeom prst="roundRect">
            <a:avLst>
              <a:gd fmla="val 26667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5" name="Google Shape;245;p14"/>
          <p:cNvSpPr/>
          <p:nvPr/>
        </p:nvSpPr>
        <p:spPr>
          <a:xfrm>
            <a:off x="8321040" y="1645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Triple Crown — Final Results &amp; Conclusion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8" name="Google Shape;248;p14"/>
          <p:cNvSpPr/>
          <p:nvPr/>
        </p:nvSpPr>
        <p:spPr>
          <a:xfrm>
            <a:off x="411480" y="822960"/>
            <a:ext cx="2926080" cy="256032"/>
          </a:xfrm>
          <a:prstGeom prst="roundRect">
            <a:avLst>
              <a:gd fmla="val 21429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9" name="Google Shape;249;p14"/>
          <p:cNvSpPr/>
          <p:nvPr/>
        </p:nvSpPr>
        <p:spPr>
          <a:xfrm>
            <a:off x="411480" y="82296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NSE V2 · κ = 225 · 1,000 TEST EPISODES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11480" y="1234440"/>
            <a:ext cx="2651760" cy="1097280"/>
          </a:xfrm>
          <a:prstGeom prst="roundRect">
            <a:avLst>
              <a:gd fmla="val 10000" name="adj"/>
            </a:avLst>
          </a:prstGeom>
          <a:solidFill>
            <a:srgbClr val="FFD6E7"/>
          </a:solidFill>
          <a:ln cap="flat" cmpd="sng" w="12700">
            <a:solidFill>
              <a:srgbClr val="FFD6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1" name="Google Shape;251;p14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184A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C9184A"/>
                </a:solidFill>
                <a:latin typeface="Trebuchet MS"/>
                <a:ea typeface="Trebuchet MS"/>
                <a:cs typeface="Trebuchet MS"/>
                <a:sym typeface="Trebuchet MS"/>
              </a:rPr>
              <a:t>2256  vs  2455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84632" y="1746504"/>
            <a:ext cx="2505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Risk (Std Dev): AI vs 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↓ 8.1% Variance Reduction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3246120" y="1234440"/>
            <a:ext cx="2651760" cy="1097280"/>
          </a:xfrm>
          <a:prstGeom prst="roundRect">
            <a:avLst>
              <a:gd fmla="val 10000" name="adj"/>
            </a:avLst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4" name="Google Shape;254;p14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C06"/>
              </a:buClr>
              <a:buSzPts val="22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48C06"/>
                </a:solidFill>
                <a:latin typeface="Trebuchet MS"/>
                <a:ea typeface="Trebuchet MS"/>
                <a:cs typeface="Trebuchet MS"/>
                <a:sym typeface="Trebuchet MS"/>
              </a:rPr>
              <a:t>-$338  vs  -$402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3319272" y="1746504"/>
            <a:ext cx="2505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Transaction Costs: AI vs 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↓ 15.9% Cost Reduction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080760" y="1234440"/>
            <a:ext cx="2651760" cy="1097280"/>
          </a:xfrm>
          <a:prstGeom prst="roundRect">
            <a:avLst>
              <a:gd fmla="val 10000" name="adj"/>
            </a:avLst>
          </a:prstGeom>
          <a:solidFill>
            <a:srgbClr val="D3F9D8"/>
          </a:solidFill>
          <a:ln cap="flat" cmpd="sng" w="12700">
            <a:solidFill>
              <a:srgbClr val="D3F9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7" name="Google Shape;257;p14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8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087F5B"/>
                </a:solidFill>
                <a:latin typeface="Trebuchet MS"/>
                <a:ea typeface="Trebuchet MS"/>
                <a:cs typeface="Trebuchet MS"/>
                <a:sym typeface="Trebuchet MS"/>
              </a:rPr>
              <a:t>$5,106 vs $5,055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153912" y="1746504"/>
            <a:ext cx="2505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Mean Profit (Alpha): AI vs 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↑ Superior Risk-Adj.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11480" y="2423160"/>
            <a:ext cx="4114800" cy="2011680"/>
          </a:xfrm>
          <a:prstGeom prst="roundRect">
            <a:avLst>
              <a:gd fmla="val 4545" name="adj"/>
            </a:avLst>
          </a:prstGeom>
          <a:solidFill>
            <a:srgbClr val="F8F4FF"/>
          </a:solidFill>
          <a:ln cap="flat" cmpd="sng" w="19050">
            <a:solidFill>
              <a:srgbClr val="3A0C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0" name="Google Shape;260;p14"/>
          <p:cNvSpPr/>
          <p:nvPr/>
        </p:nvSpPr>
        <p:spPr>
          <a:xfrm>
            <a:off x="502920" y="251460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0CA3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3A0CA3"/>
                </a:solidFill>
                <a:latin typeface="Calibri"/>
                <a:ea typeface="Calibri"/>
                <a:cs typeface="Calibri"/>
                <a:sym typeface="Calibri"/>
              </a:rPr>
              <a:t>[Insert Graph: NSE V2 PnL Distribution KDE — AI (Blue, taller/narrower) vs BS (Orange)]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02920" y="42976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A0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KDE Distribution — AI vs Black-Scholes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709160" y="2423160"/>
            <a:ext cx="4023360" cy="2011680"/>
          </a:xfrm>
          <a:prstGeom prst="roundRect">
            <a:avLst>
              <a:gd fmla="val 4545" name="adj"/>
            </a:avLst>
          </a:prstGeom>
          <a:solidFill>
            <a:srgbClr val="F4FFF8"/>
          </a:solidFill>
          <a:ln cap="flat" cmpd="sng" w="1905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3" name="Google Shape;263;p14"/>
          <p:cNvSpPr/>
          <p:nvPr/>
        </p:nvSpPr>
        <p:spPr>
          <a:xfrm>
            <a:off x="4800600" y="2514600"/>
            <a:ext cx="3840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[Insert Graph: NSE V2 Average Profit Mean Bar Chart — AI vs BS]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800600" y="429768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A0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Mean Profit Bar Chart — AI vs 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11480" y="4553712"/>
            <a:ext cx="8321040" cy="402336"/>
          </a:xfrm>
          <a:prstGeom prst="roundRect">
            <a:avLst>
              <a:gd fmla="val 18182" name="adj"/>
            </a:avLst>
          </a:prstGeom>
          <a:solidFill>
            <a:srgbClr val="C9184A"/>
          </a:solidFill>
          <a:ln cap="flat" cmpd="sng" w="12700">
            <a:solidFill>
              <a:srgbClr val="C91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6" name="Google Shape;266;p14"/>
          <p:cNvSpPr/>
          <p:nvPr/>
        </p:nvSpPr>
        <p:spPr>
          <a:xfrm>
            <a:off x="566928" y="4599432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Conclusion:  TD3 Deep RL, constrained by Welford Variance + PnL Normalization, systematically outperforms continuous theoretical models by navigating real-world market frictions.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b="4949" l="-2098" r="49519" t="4414"/>
          <a:stretch/>
        </p:blipFill>
        <p:spPr>
          <a:xfrm>
            <a:off x="1097275" y="2197725"/>
            <a:ext cx="2743199" cy="227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4"/>
          <p:cNvPicPr preferRelativeResize="0"/>
          <p:nvPr/>
        </p:nvPicPr>
        <p:blipFill rotWithShape="1">
          <a:blip r:embed="rId3">
            <a:alphaModFix/>
          </a:blip>
          <a:srcRect b="7621" l="50833" r="0" t="4382"/>
          <a:stretch/>
        </p:blipFill>
        <p:spPr>
          <a:xfrm>
            <a:off x="5404275" y="2406913"/>
            <a:ext cx="2505477" cy="2117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